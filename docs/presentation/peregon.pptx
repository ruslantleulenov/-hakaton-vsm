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сделали тренажёр, где проводник ВСМ проживает нештатные ситуации целым рейсом, а не отвечает на вопросы теста. Покажу три механики, которых нет в квизе с таймером.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Проводник знает регламент. Вопрос в том, вспомнит ли он его под давлением.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 к тому, что именно мы построили.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мысль: рейс, а не квиз. Лояльность здесь — ресурс, который работает дальше по смене.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Арт подключается файлами, без кода. Режим новеллы включается для сценариев со сценой.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показываем правку вживую: поменять цену решения, запустить validate.py, перезапустить бэкенд.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прямая реализация ролевой модели из методички: четыре шага со страницы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демонстрации показываем экран перехода между инцидентами с плашкой «Память рейса».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демонстрации специально даём таймеру истечь: ситуация уходит в другую ветку, видно на шкалах.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учебный момент: не оценка, а объяснение с нормативной основой.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Рейтинг честен, потому что ядро детерминированное, а время считает сервер.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заказчика главный аргумент: тренажёр показывает, чему учить дальше.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 к архитектуре и требованиям кейса.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Состояние партии в БД, поэтому бэкенд масштабируется без липких сессий.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Персональных данных нет ни в демо, ни в выгрузке — это требование кейса.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решение управляемое — сценарий добавляется без программиста, запуск одной командой.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lens\AppData\Local\Temp\claude\D-----\3c71e975-6502-4df8-bf12-6139637b3c96\scratchpad\tplx\ppt\media\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C:\Users\tlens\AppData\Local\Temp\claude\D-----\3c71e975-6502-4df8-bf12-6139637b3c96\scratchpad\tplx\ppt\media\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29184"/>
            <a:ext cx="1828800" cy="274320"/>
          </a:xfrm>
          <a:prstGeom prst="rect">
            <a:avLst/>
          </a:prstGeom>
        </p:spPr>
      </p:pic>
      <p:pic>
        <p:nvPicPr>
          <p:cNvPr id="4" name="Image 2" descr="C:\Users\tlens\AppData\Local\Temp\claude\D-----\3c71e975-6502-4df8-bf12-6139637b3c96\scratchpad\tplx\ppt\media\image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4937760" cy="15819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566928" y="246888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Перегон</a:t>
            </a:r>
            <a:endParaRPr lang="en-US" sz="4000" dirty="0"/>
          </a:p>
        </p:txBody>
      </p:sp>
      <p:sp>
        <p:nvSpPr>
          <p:cNvPr id="6" name="Text 1"/>
          <p:cNvSpPr txBox="1"/>
          <p:nvPr/>
        </p:nvSpPr>
        <p:spPr>
          <a:xfrm>
            <a:off x="576072" y="31546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геймифицированный тренажёр проводника высокоскоростной магистрали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6072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7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Трек «Геймификация для ВСМ»</a:t>
            </a:r>
            <a:endParaRPr lang="en-US" sz="1100" dirty="0"/>
          </a:p>
        </p:txBody>
      </p:sp>
      <p:sp>
        <p:nvSpPr>
          <p:cNvPr id="8" name="Shape 3"/>
          <p:cNvSpPr/>
          <p:nvPr/>
        </p:nvSpPr>
        <p:spPr>
          <a:xfrm>
            <a:off x="566928" y="3977640"/>
            <a:ext cx="2011680" cy="329184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566928" y="39776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сценариев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2715768" y="3977640"/>
            <a:ext cx="2011680" cy="329184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2715768" y="39776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рейса по 3 инцидента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566928" y="4389120"/>
            <a:ext cx="2011680" cy="329184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66928" y="43891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узла · 92 варианта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2715768" y="4389120"/>
            <a:ext cx="2011680" cy="329184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2715768" y="43891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теста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7040880" y="3977640"/>
            <a:ext cx="310896" cy="310896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17" name="Shape 12"/>
          <p:cNvSpPr/>
          <p:nvPr/>
        </p:nvSpPr>
        <p:spPr>
          <a:xfrm>
            <a:off x="7351776" y="4288536"/>
            <a:ext cx="310896" cy="310896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18" name="Shape 13"/>
          <p:cNvSpPr/>
          <p:nvPr/>
        </p:nvSpPr>
        <p:spPr>
          <a:xfrm>
            <a:off x="7662672" y="3977640"/>
            <a:ext cx="310896" cy="310896"/>
          </a:xfrm>
          <a:prstGeom prst="rect">
            <a:avLst/>
          </a:prstGeom>
          <a:solidFill>
            <a:srgbClr val="2B4FA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lens\AppData\Local\Temp\claude\D-----\3c71e975-6502-4df8-bf12-6139637b3c96\scratchpad\tplx\ppt\media\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10896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 проверяет знание регламента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932688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Он не проверяет, вспомнит ли проводник это знание, когда в вагоне на 400 км/ч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одновременно плачет ребёнок, пассажиру плохо и до станции семь минут.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09560" y="310896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6" name="Shape 3"/>
          <p:cNvSpPr/>
          <p:nvPr/>
        </p:nvSpPr>
        <p:spPr>
          <a:xfrm>
            <a:off x="8147304" y="548640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7" name="Shape 4"/>
          <p:cNvSpPr/>
          <p:nvPr/>
        </p:nvSpPr>
        <p:spPr>
          <a:xfrm>
            <a:off x="8385048" y="310896"/>
            <a:ext cx="237744" cy="237744"/>
          </a:xfrm>
          <a:prstGeom prst="rect">
            <a:avLst/>
          </a:prstGeom>
          <a:solidFill>
            <a:srgbClr val="2B4FA0"/>
          </a:solidFill>
          <a:ln/>
        </p:spPr>
      </p:sp>
      <p:pic>
        <p:nvPicPr>
          <p:cNvPr id="8" name="Image 1" descr="C:\Users\tlens\AppData\Local\Temp\claude\D-----\3c71e975-6502-4df8-bf12-6139637b3c96\scratchpad\tplx\ppt\media\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4640580"/>
            <a:ext cx="1627632" cy="24688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783080"/>
            <a:ext cx="2606040" cy="1783080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04088" y="1984248"/>
            <a:ext cx="146304" cy="14630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04088" y="224028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Стресс и дефицит времени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704088" y="2478024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принимается за секунды. Лекция и тест этому не учат: там можно подумать и перечитать.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3291840" y="1783080"/>
            <a:ext cx="2606040" cy="1783080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493008" y="1984248"/>
            <a:ext cx="146304" cy="14630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3493008" y="224028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безопасной среды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3493008" y="2478024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Отрабатывать конфликт или медицинский инцидент на реальных пассажирах нельзя.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080760" y="1783080"/>
            <a:ext cx="2606040" cy="1783080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81928" y="1984248"/>
            <a:ext cx="146304" cy="14630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281928" y="224028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skills не измеряются</a:t>
            </a:r>
            <a:endParaRPr lang="en-US" sz="1250" dirty="0"/>
          </a:p>
        </p:txBody>
      </p:sp>
      <p:sp>
        <p:nvSpPr>
          <p:cNvPr id="20" name="Text 16"/>
          <p:cNvSpPr txBox="1"/>
          <p:nvPr/>
        </p:nvSpPr>
        <p:spPr>
          <a:xfrm>
            <a:off x="6281928" y="2478024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«Умеет успокоить пассажира» — не галочка в тесте. Нужна оценка, понятная сотруднику и методисту.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502920" y="388620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F7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кейса: методичка «Примеры ситуаций взаимодействия поездного персонала с пассажирами» —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F7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 ситуация с эталонными реакциями; стандарты СТО РЖД по обслуживанию пассажиров ВСМ.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F6F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3749040"/>
            <a:ext cx="8631936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74904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lens\AppData\Local\Temp\claude\D-----\3c71e975-6502-4df8-bf12-6139637b3c96\scratchpad\tplx\ppt\media\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10896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Тренировка — это рейс, а не набор вопросов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932688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Смена проводника: несколько нештатных ситуаций подряд на маршруте Москва — Санкт-Петербург.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Шкалы не обнуляются между инцидентами, а пассажиры помнят прошлый перегон.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09560" y="310896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6" name="Shape 3"/>
          <p:cNvSpPr/>
          <p:nvPr/>
        </p:nvSpPr>
        <p:spPr>
          <a:xfrm>
            <a:off x="8147304" y="548640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7" name="Shape 4"/>
          <p:cNvSpPr/>
          <p:nvPr/>
        </p:nvSpPr>
        <p:spPr>
          <a:xfrm>
            <a:off x="8385048" y="310896"/>
            <a:ext cx="237744" cy="237744"/>
          </a:xfrm>
          <a:prstGeom prst="rect">
            <a:avLst/>
          </a:prstGeom>
          <a:solidFill>
            <a:srgbClr val="2B4FA0"/>
          </a:solidFill>
          <a:ln/>
        </p:spPr>
      </p:sp>
      <p:pic>
        <p:nvPicPr>
          <p:cNvPr id="8" name="Image 1" descr="C:\Users\tlens\AppData\Local\Temp\claude\D-----\3c71e975-6502-4df8-bf12-6139637b3c96\scratchpad\tplx\ppt\media\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4640580"/>
            <a:ext cx="1627632" cy="24688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783080"/>
            <a:ext cx="1920240" cy="2148840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85800" y="1965960"/>
            <a:ext cx="146304" cy="146304"/>
          </a:xfrm>
          <a:prstGeom prst="rect">
            <a:avLst/>
          </a:prstGeom>
          <a:solidFill>
            <a:srgbClr val="E0A63C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85800" y="2212848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Таймер от маршрута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2450592"/>
            <a:ext cx="157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Медиков вызывают к платформе, пассажира передают полиции на вокзале. Не успел до станции — вариант закрылся.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2587752" y="1783080"/>
            <a:ext cx="1920240" cy="2148840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770632" y="1965960"/>
            <a:ext cx="146304" cy="14630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2770632" y="2212848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 шкалы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2770632" y="2450592"/>
            <a:ext cx="157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«Лояльность пассажира» и «рейтинг безопасности» тянут в разные стороны. Безопасность не торгуется.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4672584" y="1783080"/>
            <a:ext cx="1920240" cy="2148840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55464" y="1965960"/>
            <a:ext cx="146304" cy="146304"/>
          </a:xfrm>
          <a:prstGeom prst="rect">
            <a:avLst/>
          </a:prstGeom>
          <a:solidFill>
            <a:srgbClr val="35C17A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4855464" y="2212848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Память пассажиров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4855464" y="2450592"/>
            <a:ext cx="157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Салон, с которым нашли общий язык, помогает. Видевший публичный спор — достаёт телефон.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6757416" y="1783080"/>
            <a:ext cx="1920240" cy="2148840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940296" y="1965960"/>
            <a:ext cx="146304" cy="146304"/>
          </a:xfrm>
          <a:prstGeom prst="rect">
            <a:avLst/>
          </a:prstGeom>
          <a:solidFill>
            <a:srgbClr val="E0384E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940296" y="2212848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Разбор со ссылкой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6940296" y="2450592"/>
            <a:ext cx="157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балл объяснён причиной и пунктом методички. Плюс ветка, которую вы не выбрали.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41148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это — данные, а не код: методист добавляет ситуацию из методички без программиста.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lens\AppData\Local\Temp\claude\D-----\3c71e975-6502-4df8-bf12-6139637b3c96\scratchpad\tplx\ppt\media\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10896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Инцидент подаётся как лайт-новелла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7909560" y="310896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5" name="Shape 2"/>
          <p:cNvSpPr/>
          <p:nvPr/>
        </p:nvSpPr>
        <p:spPr>
          <a:xfrm>
            <a:off x="8147304" y="548640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6" name="Shape 3"/>
          <p:cNvSpPr/>
          <p:nvPr/>
        </p:nvSpPr>
        <p:spPr>
          <a:xfrm>
            <a:off x="8385048" y="310896"/>
            <a:ext cx="237744" cy="237744"/>
          </a:xfrm>
          <a:prstGeom prst="rect">
            <a:avLst/>
          </a:prstGeom>
          <a:solidFill>
            <a:srgbClr val="2B4FA0"/>
          </a:solidFill>
          <a:ln/>
        </p:spPr>
      </p:sp>
      <p:pic>
        <p:nvPicPr>
          <p:cNvPr id="7" name="Image 1" descr="C:\Users\tlens\AppData\Local\Temp\claude\D-----\3c71e975-6502-4df8-bf12-6139637b3c96\scratchpad\tplx\ppt\media\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4640580"/>
            <a:ext cx="1627632" cy="246888"/>
          </a:xfrm>
          <a:prstGeom prst="rect">
            <a:avLst/>
          </a:prstGeom>
        </p:spPr>
      </p:pic>
      <p:pic>
        <p:nvPicPr>
          <p:cNvPr id="8" name="Image 2" descr="C:\Users\tlens\AppData\Local\Temp\claude\D-----\3c71e975-6502-4df8-bf12-6139637b3c96\scratchpad\shots\02-novel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2920" y="1051560"/>
            <a:ext cx="5029200" cy="35204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715000" y="1133856"/>
            <a:ext cx="128016" cy="128016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5943600" y="1097280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Сцена и персонаж</a:t>
            </a:r>
            <a:endParaRPr lang="en-US" sz="1150" dirty="0"/>
          </a:p>
        </p:txBody>
      </p:sp>
      <p:sp>
        <p:nvSpPr>
          <p:cNvPr id="11" name="Text 6"/>
          <p:cNvSpPr txBox="1"/>
          <p:nvPr/>
        </p:nvSpPr>
        <p:spPr>
          <a:xfrm>
            <a:off x="5943600" y="1335024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Фон вагона и собеседник со сменой эмоции: спокоен → доволен → напряжён → на взводе.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5715000" y="2020824"/>
            <a:ext cx="128016" cy="128016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5943600" y="1984248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Обе шкалы сверху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5943600" y="222199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Последствие решения видно сразу, а не только в конце.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5715000" y="2907792"/>
            <a:ext cx="128016" cy="128016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5943600" y="2871216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Таймер от сервера</a:t>
            </a:r>
            <a:endParaRPr lang="en-US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5943600" y="310896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Браузер не передаёт время: момент показа узла лежит в базе.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5715000" y="3794760"/>
            <a:ext cx="128016" cy="128016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943600" y="375818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 ролевой модели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5943600" y="399592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каждого варианта подписан шаг: признать → правило → решение → заверить.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lens\AppData\Local\Temp\claude\D-----\3c71e975-6502-4df8-bf12-6139637b3c96\scratchpad\tplx\ppt\media\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10896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Сценарий — это данные, а не код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7909560" y="310896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5" name="Shape 2"/>
          <p:cNvSpPr/>
          <p:nvPr/>
        </p:nvSpPr>
        <p:spPr>
          <a:xfrm>
            <a:off x="8147304" y="548640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6" name="Shape 3"/>
          <p:cNvSpPr/>
          <p:nvPr/>
        </p:nvSpPr>
        <p:spPr>
          <a:xfrm>
            <a:off x="8385048" y="310896"/>
            <a:ext cx="237744" cy="237744"/>
          </a:xfrm>
          <a:prstGeom prst="rect">
            <a:avLst/>
          </a:prstGeom>
          <a:solidFill>
            <a:srgbClr val="2B4FA0"/>
          </a:solidFill>
          <a:ln/>
        </p:spPr>
      </p:sp>
      <p:pic>
        <p:nvPicPr>
          <p:cNvPr id="7" name="Image 1" descr="C:\Users\tlens\AppData\Local\Temp\claude\D-----\3c71e975-6502-4df8-bf12-6139637b3c96\scratchpad\tplx\ppt\media\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4640580"/>
            <a:ext cx="1627632" cy="24688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097280"/>
            <a:ext cx="4663440" cy="3200400"/>
          </a:xfrm>
          <a:prstGeom prst="rect">
            <a:avLst/>
          </a:prstGeom>
          <a:solidFill>
            <a:srgbClr val="120C24"/>
          </a:solidFill>
          <a:ln w="12700">
            <a:solidFill>
              <a:srgbClr val="2C235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67512" y="1234440"/>
            <a:ext cx="4389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CBD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options: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CBD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id: radio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CBD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step: solution          # шаг ролевой модели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CBD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text: «Вызвать начальника поезда и попросить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CBD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медиков к платформе в Твери»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CBD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reason: Штатный порядок вызова медиков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CBD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(методичка, ситуация 19)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CBD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effects: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CBD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loyalty: 6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CBD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safety: 15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CBD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competences: {safety: 3, teamwork: 3}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CBD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set: [medics_called]  # память рейса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CBD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goto_if: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CBD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flag: car_tense     # вагон помнит спор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CBD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goto: filmed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CBD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goto: care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5486400" y="10972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6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548640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сценариев из методички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7178040" y="10972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6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2800" dirty="0"/>
          </a:p>
        </p:txBody>
      </p:sp>
      <p:sp>
        <p:nvSpPr>
          <p:cNvPr id="13" name="Text 9"/>
          <p:cNvSpPr txBox="1"/>
          <p:nvPr/>
        </p:nvSpPr>
        <p:spPr>
          <a:xfrm>
            <a:off x="717804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узла, 92 варианта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0" y="20574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6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0" y="2514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рейса по три инцидента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7178040" y="20574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6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800" dirty="0"/>
          </a:p>
        </p:txBody>
      </p:sp>
      <p:sp>
        <p:nvSpPr>
          <p:cNvPr id="17" name="Text 13"/>
          <p:cNvSpPr txBox="1"/>
          <p:nvPr/>
        </p:nvSpPr>
        <p:spPr>
          <a:xfrm>
            <a:off x="7178040" y="2514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достижений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0" y="310896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Загрузчик проверяет файл целиком: битая ссылка между узлами, таймер без ветки «время вышло», недостижимый узел — ошибка при старте, а не в середине партии. Валидатор для методиста ловит варианты без объяснения.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lens\AppData\Local\Temp\claude\D-----\3c71e975-6502-4df8-bf12-6139637b3c96\scratchpad\tplx\ppt\media\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10896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Важно не только что сказано, но и в каком порядке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932688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Ролевая модель из методички кейса реализована как механика начисления, а не как справка.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09560" y="310896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6" name="Shape 3"/>
          <p:cNvSpPr/>
          <p:nvPr/>
        </p:nvSpPr>
        <p:spPr>
          <a:xfrm>
            <a:off x="8147304" y="548640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7" name="Shape 4"/>
          <p:cNvSpPr/>
          <p:nvPr/>
        </p:nvSpPr>
        <p:spPr>
          <a:xfrm>
            <a:off x="8385048" y="310896"/>
            <a:ext cx="237744" cy="237744"/>
          </a:xfrm>
          <a:prstGeom prst="rect">
            <a:avLst/>
          </a:prstGeom>
          <a:solidFill>
            <a:srgbClr val="2B4FA0"/>
          </a:solidFill>
          <a:ln/>
        </p:spPr>
      </p:sp>
      <p:pic>
        <p:nvPicPr>
          <p:cNvPr id="8" name="Image 1" descr="C:\Users\tlens\AppData\Local\Temp\claude\D-----\3c71e975-6502-4df8-bf12-6139637b3c96\scratchpad\tplx\ppt\media\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4640580"/>
            <a:ext cx="1627632" cy="24688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600200"/>
            <a:ext cx="1783080" cy="685800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502920" y="1600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Признать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ситуацию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2286000" y="160020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6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560320" y="1600200"/>
            <a:ext cx="1783080" cy="685800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2560320" y="1600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Обозначить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правило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4343400" y="160020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6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617720" y="1600200"/>
            <a:ext cx="1783080" cy="685800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617720" y="1600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Предложить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6400800" y="160020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6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675120" y="1600200"/>
            <a:ext cx="1783080" cy="685800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675120" y="1600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Заверить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02920" y="2514600"/>
            <a:ext cx="3977640" cy="1600200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26700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Правило до признания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685800" y="29443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«Вы пьяны, алкоголь я вам не принесу»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685800" y="32461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3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 лояльности сверх эффекта самой реплики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685800" y="352958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Методичка запрещает называть состояние пассажира вслух: это провоцирует агрессию.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4663440" y="2514600"/>
            <a:ext cx="3977640" cy="1600200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846320" y="26700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после признания</a:t>
            </a:r>
            <a:endParaRPr lang="en-US" sz="1250" dirty="0"/>
          </a:p>
        </p:txBody>
      </p:sp>
      <p:sp>
        <p:nvSpPr>
          <p:cNvPr id="27" name="Text 23"/>
          <p:cNvSpPr txBox="1"/>
          <p:nvPr/>
        </p:nvSpPr>
        <p:spPr>
          <a:xfrm>
            <a:off x="4846320" y="29443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«Этот напиток предложить не могу. Позвольте чай или кофе?»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4846320" y="32461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5C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 лояльности и +1 к компетенции «сервис»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4846320" y="352958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Движок сравнивает шаг текущего хода с предыдущим — отдельно от эффектов реплики.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502920" y="42245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F7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Правила лежат списком в engine.SEQUENCE_RULES — меняются за минуту.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lens\AppData\Local\Temp\claude\D-----\3c71e975-6502-4df8-bf12-6139637b3c96\scratchpad\tplx\ppt\media\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10896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Пассажиры помнят прошлый перегон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932688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Шкалы и флаги переезжают из инцидента в инцидент — это и есть память рейса.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09560" y="310896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6" name="Shape 3"/>
          <p:cNvSpPr/>
          <p:nvPr/>
        </p:nvSpPr>
        <p:spPr>
          <a:xfrm>
            <a:off x="8147304" y="548640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7" name="Shape 4"/>
          <p:cNvSpPr/>
          <p:nvPr/>
        </p:nvSpPr>
        <p:spPr>
          <a:xfrm>
            <a:off x="8385048" y="310896"/>
            <a:ext cx="237744" cy="237744"/>
          </a:xfrm>
          <a:prstGeom prst="rect">
            <a:avLst/>
          </a:prstGeom>
          <a:solidFill>
            <a:srgbClr val="2B4FA0"/>
          </a:solidFill>
          <a:ln/>
        </p:spPr>
      </p:sp>
      <p:pic>
        <p:nvPicPr>
          <p:cNvPr id="8" name="Image 1" descr="C:\Users\tlens\AppData\Local\Temp\claude\D-----\3c71e975-6502-4df8-bf12-6139637b3c96\scratchpad\tplx\ppt\media\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4640580"/>
            <a:ext cx="1627632" cy="24688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600200"/>
            <a:ext cx="2514600" cy="731520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67512" y="1691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7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Инцидент 1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667512" y="18928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пассажира на одно место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3017520" y="1600200"/>
            <a:ext cx="274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6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3291840" y="1600200"/>
            <a:ext cx="2514600" cy="731520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456432" y="1691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7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Инцидент 2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3456432" y="18928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Ребёнок потерялся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5806440" y="1600200"/>
            <a:ext cx="274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6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080760" y="1600200"/>
            <a:ext cx="2514600" cy="731520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245352" y="1691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7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Инцидент 3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6245352" y="18928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Пассажиру стало плохо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02920" y="2560320"/>
            <a:ext cx="3977640" cy="1508760"/>
          </a:xfrm>
          <a:prstGeom prst="rect">
            <a:avLst/>
          </a:prstGeom>
          <a:solidFill>
            <a:srgbClr val="14301F"/>
          </a:solidFill>
          <a:ln w="12700">
            <a:solidFill>
              <a:srgbClr val="2F6B4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27157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C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Спор решён по-человечески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685800" y="30175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6E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медицинском инциденте открывается вариант «попросить пассажиров, с которыми вы уже нашли общий язык, помочь». Лояльность перестаёт быть баллом и становится ресурсом.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4663440" y="2560320"/>
            <a:ext cx="3977640" cy="1508760"/>
          </a:xfrm>
          <a:prstGeom prst="rect">
            <a:avLst/>
          </a:prstGeom>
          <a:solidFill>
            <a:srgbClr val="33141C"/>
          </a:solidFill>
          <a:ln w="12700">
            <a:solidFill>
              <a:srgbClr val="7A2B3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846320" y="27157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A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Был публичный спор в салоне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4846320" y="30175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5D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Тот же ход ведёт в другой узел: сосед через проход поднимает телефон и снимает пассажирку, которой плохо. Появляется развилка про согласие на съёмку.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4187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7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данных это две строчки: requires: [goodwill_car] и goto_if: [{flag: car_tense, goto: filmed}].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4F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lens\AppData\Local\Temp\claude\D-----\3c71e975-6502-4df8-bf12-6139637b3c96\scratchpad\tplx\ppt\media\image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10896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Таймер задаёт не игра, а маршрут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932688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DE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Поезд на 400 км/ч не остановится по требованию: всё, что делается через станцию, нужно решить до неё.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09560" y="310896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3"/>
          <p:cNvSpPr/>
          <p:nvPr/>
        </p:nvSpPr>
        <p:spPr>
          <a:xfrm>
            <a:off x="8147304" y="548640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8385048" y="310896"/>
            <a:ext cx="237744" cy="237744"/>
          </a:xfrm>
          <a:prstGeom prst="rect">
            <a:avLst/>
          </a:prstGeom>
          <a:solidFill>
            <a:srgbClr val="2B4FA0"/>
          </a:solidFill>
          <a:ln/>
        </p:spPr>
      </p:sp>
      <p:pic>
        <p:nvPicPr>
          <p:cNvPr id="8" name="Image 1" descr="C:\Users\tlens\AppData\Local\Temp\claude\D-----\3c71e975-6502-4df8-bf12-6139637b3c96\scratchpad\tplx\ppt\media\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4640580"/>
            <a:ext cx="1627632" cy="24688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828800"/>
            <a:ext cx="3977640" cy="1024128"/>
          </a:xfrm>
          <a:prstGeom prst="rect">
            <a:avLst/>
          </a:prstGeom>
          <a:solidFill>
            <a:srgbClr val="1E3A78"/>
          </a:solidFill>
          <a:ln w="12700">
            <a:solidFill>
              <a:srgbClr val="3F6FD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5681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Окно закрывается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224028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DE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Чем дольше тянешь, тем меньше мягких вариантов: часть решений исчезает из списка.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663440" y="1828800"/>
            <a:ext cx="3977640" cy="1024128"/>
          </a:xfrm>
          <a:prstGeom prst="rect">
            <a:avLst/>
          </a:prstGeom>
          <a:solidFill>
            <a:srgbClr val="1E3A78"/>
          </a:solidFill>
          <a:ln w="12700">
            <a:solidFill>
              <a:srgbClr val="3F6FD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846320" y="195681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Бездействие — выбор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846320" y="224028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DE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Истёк таймер — своя ветка: ситуация развивается сама, хладнокровие падает, минус три балла к итогу.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3035808"/>
            <a:ext cx="3977640" cy="1024128"/>
          </a:xfrm>
          <a:prstGeom prst="rect">
            <a:avLst/>
          </a:prstGeom>
          <a:solidFill>
            <a:srgbClr val="1E3A78"/>
          </a:solidFill>
          <a:ln w="12700">
            <a:solidFill>
              <a:srgbClr val="3F6FD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316382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считает сервер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685800" y="344728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DE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базе лежит момент показа узла. Браузер не передаёт длительность — «подкрутить» таймер нельзя.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663440" y="3035808"/>
            <a:ext cx="3977640" cy="1024128"/>
          </a:xfrm>
          <a:prstGeom prst="rect">
            <a:avLst/>
          </a:prstGeom>
          <a:solidFill>
            <a:srgbClr val="1E3A78"/>
          </a:solidFill>
          <a:ln w="12700">
            <a:solidFill>
              <a:srgbClr val="3F6FD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46320" y="316382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Быстро ≠ наугад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4846320" y="344728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DE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Верное решение в первой половине таймера даёт +2 к хладнокровию, на исходе — минус один.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502920" y="43434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Честный таймер — обязательное условие честной таблицы лидеров.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lens\AppData\Local\Temp\claude\D-----\3c71e975-6502-4df8-bf12-6139637b3c96\scratchpad\tplx\ppt\media\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10896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«верно / неверно», а объяснение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7909560" y="310896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5" name="Shape 2"/>
          <p:cNvSpPr/>
          <p:nvPr/>
        </p:nvSpPr>
        <p:spPr>
          <a:xfrm>
            <a:off x="8147304" y="548640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6" name="Shape 3"/>
          <p:cNvSpPr/>
          <p:nvPr/>
        </p:nvSpPr>
        <p:spPr>
          <a:xfrm>
            <a:off x="8385048" y="310896"/>
            <a:ext cx="237744" cy="237744"/>
          </a:xfrm>
          <a:prstGeom prst="rect">
            <a:avLst/>
          </a:prstGeom>
          <a:solidFill>
            <a:srgbClr val="2B4FA0"/>
          </a:solidFill>
          <a:ln/>
        </p:spPr>
      </p:sp>
      <p:pic>
        <p:nvPicPr>
          <p:cNvPr id="7" name="Image 1" descr="C:\Users\tlens\AppData\Local\Temp\claude\D-----\3c71e975-6502-4df8-bf12-6139637b3c96\scratchpad\tplx\ppt\media\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4640580"/>
            <a:ext cx="1627632" cy="246888"/>
          </a:xfrm>
          <a:prstGeom prst="rect">
            <a:avLst/>
          </a:prstGeom>
        </p:spPr>
      </p:pic>
      <p:pic>
        <p:nvPicPr>
          <p:cNvPr id="8" name="Image 2" descr="C:\Users\tlens\AppData\Local\Temp\claude\D-----\3c71e975-6502-4df8-bf12-6139637b3c96\scratchpad\shots\06-debrief-event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09160" y="1051560"/>
            <a:ext cx="3931920" cy="32918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02920" y="1133856"/>
            <a:ext cx="128016" cy="128016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740664" y="1097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Причина у каждого балла</a:t>
            </a:r>
            <a:endParaRPr lang="en-US" sz="1150" dirty="0"/>
          </a:p>
        </p:txBody>
      </p:sp>
      <p:sp>
        <p:nvSpPr>
          <p:cNvPr id="11" name="Text 6"/>
          <p:cNvSpPr txBox="1"/>
          <p:nvPr/>
        </p:nvSpPr>
        <p:spPr>
          <a:xfrm>
            <a:off x="740664" y="1335024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 ссылкой на ситуацию из методички и стандарт обслуживания.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502920" y="1975104"/>
            <a:ext cx="128016" cy="128016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740664" y="193852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можно было лучше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740664" y="2176272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слабых вариантов — прямая подсказка, что стоило сделать вместо этого.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502920" y="2816352"/>
            <a:ext cx="128016" cy="128016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740664" y="27797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было бы, если</a:t>
            </a:r>
            <a:endParaRPr lang="en-US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740664" y="301752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Движок показывает невыбранную ветку, но только когда она была заметно лучше.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502920" y="3657600"/>
            <a:ext cx="128016" cy="128016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0664" y="36210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Выводы о человеке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740664" y="3858768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«Безопасность просела: сначала риск, потом сервис» — и подбор следующих рейсов.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lens\AppData\Local\Temp\claude\D-----\3c71e975-6502-4df8-bf12-6139637b3c96\scratchpad\tplx\ppt\media\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10896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Цикл: действие → очки → достижения → рейтинг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7909560" y="310896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5" name="Shape 2"/>
          <p:cNvSpPr/>
          <p:nvPr/>
        </p:nvSpPr>
        <p:spPr>
          <a:xfrm>
            <a:off x="8147304" y="548640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6" name="Shape 3"/>
          <p:cNvSpPr/>
          <p:nvPr/>
        </p:nvSpPr>
        <p:spPr>
          <a:xfrm>
            <a:off x="8385048" y="310896"/>
            <a:ext cx="237744" cy="237744"/>
          </a:xfrm>
          <a:prstGeom prst="rect">
            <a:avLst/>
          </a:prstGeom>
          <a:solidFill>
            <a:srgbClr val="2B4FA0"/>
          </a:solidFill>
          <a:ln/>
        </p:spPr>
      </p:sp>
      <p:pic>
        <p:nvPicPr>
          <p:cNvPr id="7" name="Image 1" descr="C:\Users\tlens\AppData\Local\Temp\claude\D-----\3c71e975-6502-4df8-bf12-6139637b3c96\scratchpad\tplx\ppt\media\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4640580"/>
            <a:ext cx="1627632" cy="246888"/>
          </a:xfrm>
          <a:prstGeom prst="rect">
            <a:avLst/>
          </a:prstGeom>
        </p:spPr>
      </p:pic>
      <p:pic>
        <p:nvPicPr>
          <p:cNvPr id="8" name="Image 2" descr="C:\Users\tlens\AppData\Local\Temp\claude\D-----\3c71e975-6502-4df8-bf12-6139637b3c96\scratchpad\shots\07-profi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2920" y="1051560"/>
            <a:ext cx="3931920" cy="2331720"/>
          </a:xfrm>
          <a:prstGeom prst="rect">
            <a:avLst/>
          </a:prstGeom>
        </p:spPr>
      </p:pic>
      <p:pic>
        <p:nvPicPr>
          <p:cNvPr id="9" name="Image 3" descr="C:\Users\tlens\AppData\Local\Temp\claude\D-----\3c71e975-6502-4df8-bf12-6139637b3c96\scratchpad\shots\08-leaderboar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09160" y="1051560"/>
            <a:ext cx="3931920" cy="2331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02920" y="361188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</a:t>
            </a:r>
            <a:endParaRPr lang="en-US" sz="1100" dirty="0"/>
          </a:p>
        </p:txBody>
      </p:sp>
      <p:sp>
        <p:nvSpPr>
          <p:cNvPr id="11" name="Text 5"/>
          <p:cNvSpPr txBox="1"/>
          <p:nvPr/>
        </p:nvSpPr>
        <p:spPr>
          <a:xfrm>
            <a:off x="502920" y="3849624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компетенций, пять уровней: стажёр → наставник.</a:t>
            </a:r>
            <a:endParaRPr lang="en-US" sz="850" dirty="0"/>
          </a:p>
        </p:txBody>
      </p:sp>
      <p:sp>
        <p:nvSpPr>
          <p:cNvPr id="12" name="Text 6"/>
          <p:cNvSpPr txBox="1"/>
          <p:nvPr/>
        </p:nvSpPr>
        <p:spPr>
          <a:xfrm>
            <a:off x="2587752" y="361188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Достижения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2587752" y="3849624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поведение: «Холодная голова» — десять решений вовремя.</a:t>
            </a:r>
            <a:endParaRPr lang="en-US" sz="850" dirty="0"/>
          </a:p>
        </p:txBody>
      </p:sp>
      <p:sp>
        <p:nvSpPr>
          <p:cNvPr id="14" name="Text 8"/>
          <p:cNvSpPr txBox="1"/>
          <p:nvPr/>
        </p:nvSpPr>
        <p:spPr>
          <a:xfrm>
            <a:off x="4672584" y="361188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Рейс недели</a:t>
            </a:r>
            <a:endParaRPr lang="en-US" sz="1100" dirty="0"/>
          </a:p>
        </p:txBody>
      </p:sp>
      <p:sp>
        <p:nvSpPr>
          <p:cNvPr id="15" name="Text 9"/>
          <p:cNvSpPr txBox="1"/>
          <p:nvPr/>
        </p:nvSpPr>
        <p:spPr>
          <a:xfrm>
            <a:off x="4672584" y="3849624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сценарий для всех бригад — сравнение честное.</a:t>
            </a:r>
            <a:endParaRPr lang="en-US" sz="850" dirty="0"/>
          </a:p>
        </p:txBody>
      </p:sp>
      <p:sp>
        <p:nvSpPr>
          <p:cNvPr id="16" name="Text 10"/>
          <p:cNvSpPr txBox="1"/>
          <p:nvPr/>
        </p:nvSpPr>
        <p:spPr>
          <a:xfrm>
            <a:off x="6757416" y="361188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Серии и баллы</a:t>
            </a:r>
            <a:endParaRPr lang="en-US" sz="1100" dirty="0"/>
          </a:p>
        </p:txBody>
      </p:sp>
      <p:sp>
        <p:nvSpPr>
          <p:cNvPr id="17" name="Text 11"/>
          <p:cNvSpPr txBox="1"/>
          <p:nvPr/>
        </p:nvSpPr>
        <p:spPr>
          <a:xfrm>
            <a:off x="6757416" y="3849624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Дни подряд, сгорающие очки, уведомления о назначениях.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lens\AppData\Local\Temp\claude\D-----\3c71e975-6502-4df8-bf12-6139637b3c96\scratchpad\tplx\ppt\media\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10896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о реальных пробелах в подготовке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932688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ход пишется в журнал: узел, выбор, время, изменения шкал и причина.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09560" y="310896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6" name="Shape 3"/>
          <p:cNvSpPr/>
          <p:nvPr/>
        </p:nvSpPr>
        <p:spPr>
          <a:xfrm>
            <a:off x="8147304" y="548640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7" name="Shape 4"/>
          <p:cNvSpPr/>
          <p:nvPr/>
        </p:nvSpPr>
        <p:spPr>
          <a:xfrm>
            <a:off x="8385048" y="310896"/>
            <a:ext cx="237744" cy="237744"/>
          </a:xfrm>
          <a:prstGeom prst="rect">
            <a:avLst/>
          </a:prstGeom>
          <a:solidFill>
            <a:srgbClr val="2B4FA0"/>
          </a:solidFill>
          <a:ln/>
        </p:spPr>
      </p:sp>
      <p:pic>
        <p:nvPicPr>
          <p:cNvPr id="8" name="Image 1" descr="C:\Users\tlens\AppData\Local\Temp\claude\D-----\3c71e975-6502-4df8-bf12-6139637b3c96\scratchpad\tplx\ppt\media\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4640580"/>
            <a:ext cx="1627632" cy="246888"/>
          </a:xfrm>
          <a:prstGeom prst="rect">
            <a:avLst/>
          </a:prstGeom>
        </p:spPr>
      </p:pic>
      <p:pic>
        <p:nvPicPr>
          <p:cNvPr id="9" name="Image 2" descr="C:\Users\tlens\AppData\Local\Temp\claude\D-----\3c71e975-6502-4df8-bf12-6139637b3c96\scratchpad\shots\09-analytic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0" y="1463040"/>
            <a:ext cx="4069080" cy="28346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02920" y="1600200"/>
            <a:ext cx="3840480" cy="1051560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173736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ошибаются чаще всего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1975104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Развилки с наибольшей потерей шкал по всем прохождениям: видно не «кто плохой», а какая тема не отработана.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502920" y="2834640"/>
            <a:ext cx="3840480" cy="1051560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85800" y="297180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Динамика компетенций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3209544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первой и второй половины рейсов сотрудника: что выросло, а что стоит на месте.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502920" y="4160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F7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 же данные уходят в HR и LMS через документированный API.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F6F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3749040"/>
            <a:ext cx="8631936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74904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это устроено</a:t>
            </a:r>
            <a:endParaRPr lang="en-US" sz="2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lens\AppData\Local\Temp\claude\D-----\3c71e975-6502-4df8-bf12-6139637b3c96\scratchpad\tplx\ppt\media\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10896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Модульно, без «чёрных ящиков»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7909560" y="310896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5" name="Shape 2"/>
          <p:cNvSpPr/>
          <p:nvPr/>
        </p:nvSpPr>
        <p:spPr>
          <a:xfrm>
            <a:off x="8147304" y="548640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6" name="Shape 3"/>
          <p:cNvSpPr/>
          <p:nvPr/>
        </p:nvSpPr>
        <p:spPr>
          <a:xfrm>
            <a:off x="8385048" y="310896"/>
            <a:ext cx="237744" cy="237744"/>
          </a:xfrm>
          <a:prstGeom prst="rect">
            <a:avLst/>
          </a:prstGeom>
          <a:solidFill>
            <a:srgbClr val="2B4FA0"/>
          </a:solidFill>
          <a:ln/>
        </p:spPr>
      </p:sp>
      <p:pic>
        <p:nvPicPr>
          <p:cNvPr id="7" name="Image 1" descr="C:\Users\tlens\AppData\Local\Temp\claude\D-----\3c71e975-6502-4df8-bf12-6139637b3c96\scratchpad\tplx\ppt\media\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4640580"/>
            <a:ext cx="1627632" cy="246888"/>
          </a:xfrm>
          <a:prstGeom prst="rect">
            <a:avLst/>
          </a:prstGeom>
        </p:spPr>
      </p:pic>
      <p:pic>
        <p:nvPicPr>
          <p:cNvPr id="8" name="Image 2" descr="C:\Users\tlens\AppData\Local\Temp\claude\D-----\3c71e975-6502-4df8-bf12-6139637b3c96\scratchpad\arch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2920" y="1005840"/>
            <a:ext cx="5486400" cy="33832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172200" y="109728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6172200" y="1335024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без сборки (HTML/CSS/JS), backend на FastAPI, хранилище SQLite.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6172200" y="193852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Ядро отдельно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6172200" y="217627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engine.py не знает ни про HTTP, ни про БД: партия воспроизводится в тесте одной функцией.</a:t>
            </a:r>
            <a:endParaRPr lang="en-US" sz="850" dirty="0"/>
          </a:p>
        </p:txBody>
      </p:sp>
      <p:sp>
        <p:nvSpPr>
          <p:cNvPr id="13" name="Text 8"/>
          <p:cNvSpPr txBox="1"/>
          <p:nvPr/>
        </p:nvSpPr>
        <p:spPr>
          <a:xfrm>
            <a:off x="6172200" y="2779776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6172200" y="30175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OpenAPI на /docs; интеграции с HR и LMS — по токену X-API-Key.</a:t>
            </a:r>
            <a:endParaRPr lang="en-US" sz="850" dirty="0"/>
          </a:p>
        </p:txBody>
      </p:sp>
      <p:sp>
        <p:nvSpPr>
          <p:cNvPr id="15" name="Text 10"/>
          <p:cNvSpPr txBox="1"/>
          <p:nvPr/>
        </p:nvSpPr>
        <p:spPr>
          <a:xfrm>
            <a:off x="6172200" y="3621024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172200" y="3858768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3.11 и одна команда. Есть Dockerfile и compose.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lens\AppData\Local\Temp\claude\D-----\3c71e975-6502-4df8-bf12-6139637b3c96\scratchpad\tplx\ppt\media\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10896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Демо-среда без персональных данных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932688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152-ФЗ выполняется не декларацией, а тем, что личных данных в системе просто нет.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09560" y="310896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6" name="Shape 3"/>
          <p:cNvSpPr/>
          <p:nvPr/>
        </p:nvSpPr>
        <p:spPr>
          <a:xfrm>
            <a:off x="8147304" y="548640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7" name="Shape 4"/>
          <p:cNvSpPr/>
          <p:nvPr/>
        </p:nvSpPr>
        <p:spPr>
          <a:xfrm>
            <a:off x="8385048" y="310896"/>
            <a:ext cx="237744" cy="237744"/>
          </a:xfrm>
          <a:prstGeom prst="rect">
            <a:avLst/>
          </a:prstGeom>
          <a:solidFill>
            <a:srgbClr val="2B4FA0"/>
          </a:solidFill>
          <a:ln/>
        </p:spPr>
      </p:sp>
      <p:pic>
        <p:nvPicPr>
          <p:cNvPr id="8" name="Image 1" descr="C:\Users\tlens\AppData\Local\Temp\claude\D-----\3c71e975-6502-4df8-bf12-6139637b3c96\scratchpad\tplx\ppt\media\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4640580"/>
            <a:ext cx="1627632" cy="24688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783080"/>
            <a:ext cx="3977640" cy="1024128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85800" y="1929384"/>
            <a:ext cx="128016" cy="128016"/>
          </a:xfrm>
          <a:prstGeom prst="rect">
            <a:avLst/>
          </a:prstGeom>
          <a:solidFill>
            <a:srgbClr val="35C17A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85800" y="213055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синтетика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2368296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Профили, бригады и депо придуманы. Пассажиры — персонажи: ни имён из жизни, ни номеров билетов.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663440" y="1783080"/>
            <a:ext cx="3977640" cy="1024128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846320" y="1929384"/>
            <a:ext cx="128016" cy="128016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46320" y="213055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Минимизация в выгрузке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4846320" y="2368296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HR уходят логин, подразделение и учебные показатели. ФИО тренажёру не нужно и не хранится.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502920" y="2971800"/>
            <a:ext cx="3977640" cy="1024128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85800" y="3118104"/>
            <a:ext cx="128016" cy="128016"/>
          </a:xfrm>
          <a:prstGeom prst="rect">
            <a:avLst/>
          </a:prstGeom>
          <a:solidFill>
            <a:srgbClr val="E0A63C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85800" y="331927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Секретов в коде нет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85800" y="3557016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Токен интеграции лежит в базе и выдаётся администратором; база создаётся локально.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663440" y="2971800"/>
            <a:ext cx="3977640" cy="1024128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846320" y="3118104"/>
            <a:ext cx="128016" cy="128016"/>
          </a:xfrm>
          <a:prstGeom prst="rect">
            <a:avLst/>
          </a:prstGeom>
          <a:solidFill>
            <a:srgbClr val="E0384E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846320" y="331927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Предсказуемые ошибки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4846320" y="3557016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/ 409 / 422 / 401, а битая ссылка в сценарии — ошибка при загрузке, а не в партии.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F7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 тестами: изоляция базы, коды ошибок, отсутствие ФИО в интеграционной выгрузке.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lens\AppData\Local\Temp\claude\D-----\3c71e975-6502-4df8-bf12-6139637b3c96\scratchpad\tplx\ppt\media\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10896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Рабочий прототип, а не макет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7909560" y="310896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5" name="Shape 2"/>
          <p:cNvSpPr/>
          <p:nvPr/>
        </p:nvSpPr>
        <p:spPr>
          <a:xfrm>
            <a:off x="8147304" y="548640"/>
            <a:ext cx="237744" cy="237744"/>
          </a:xfrm>
          <a:prstGeom prst="rect">
            <a:avLst/>
          </a:prstGeom>
          <a:solidFill>
            <a:srgbClr val="3F6FD1"/>
          </a:solidFill>
          <a:ln/>
        </p:spPr>
      </p:sp>
      <p:sp>
        <p:nvSpPr>
          <p:cNvPr id="6" name="Shape 3"/>
          <p:cNvSpPr/>
          <p:nvPr/>
        </p:nvSpPr>
        <p:spPr>
          <a:xfrm>
            <a:off x="8385048" y="310896"/>
            <a:ext cx="237744" cy="237744"/>
          </a:xfrm>
          <a:prstGeom prst="rect">
            <a:avLst/>
          </a:prstGeom>
          <a:solidFill>
            <a:srgbClr val="2B4FA0"/>
          </a:solidFill>
          <a:ln/>
        </p:spPr>
      </p:sp>
      <p:pic>
        <p:nvPicPr>
          <p:cNvPr id="7" name="Image 1" descr="C:\Users\tlens\AppData\Local\Temp\claude\D-----\3c71e975-6502-4df8-bf12-6139637b3c96\scratchpad\tplx\ppt\media\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4640580"/>
            <a:ext cx="1627632" cy="24688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051560"/>
            <a:ext cx="3977640" cy="2331720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04088" y="1188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04088" y="150876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сценариев и 2 рейса на данных кейса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Таймеры, две шкалы, память между инцидентами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Разбор с причинами, альтернативами и выводами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Профиль, достижения, рейтинг, рейс недели, серии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с OpenAPI, интеграции с HR и LMS по токену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теста, валидатор контента, запуск одной командой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4663440" y="1051560"/>
            <a:ext cx="3977640" cy="2331720"/>
          </a:xfrm>
          <a:prstGeom prst="rect">
            <a:avLst/>
          </a:prstGeom>
          <a:solidFill>
            <a:srgbClr val="231A3E"/>
          </a:solidFill>
          <a:ln w="12700">
            <a:solidFill>
              <a:srgbClr val="39305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864608" y="1188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развития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864608" y="150876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Веб-редактор сценариев для методистов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Остальные ситуации методички по данным аналитики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SSO и профиль из HR, назначение обучения из LMS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Свободная реплика: распознаём ход, исход считает ядро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9F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Роль инструктора и разбор партии с наставником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502920" y="361188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 у заказчика — три строки и только Python 3.11: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02920" y="3913632"/>
            <a:ext cx="8138160" cy="658368"/>
          </a:xfrm>
          <a:prstGeom prst="rect">
            <a:avLst/>
          </a:prstGeom>
          <a:solidFill>
            <a:srgbClr val="120C24"/>
          </a:solidFill>
          <a:ln w="12700">
            <a:solidFill>
              <a:srgbClr val="2C235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67512" y="3968496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CBD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&lt;репозиторий&gt; vsm-trainer</a:t>
            </a:r>
            <a:endParaRPr lang="en-US" sz="9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CBD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vsm-trainer</a:t>
            </a:r>
            <a:endParaRPr lang="en-US" sz="9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CBD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run.py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461772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7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Окружение, зависимости и демо-данные скрипт делает сам. Документация — в README.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Перегон — тренажёр проводника ВСМ</dc:title>
  <dc:subject>PptxGenJS Presentation</dc:subject>
  <dc:creator>Команда проекта «Перегон»</dc:creator>
  <cp:lastModifiedBy>Команда проекта «Перегон»</cp:lastModifiedBy>
  <cp:revision>1</cp:revision>
  <dcterms:created xsi:type="dcterms:W3CDTF">2026-09-27T19:31:53Z</dcterms:created>
  <dcterms:modified xsi:type="dcterms:W3CDTF">2026-09-27T19:31:53Z</dcterms:modified>
</cp:coreProperties>
</file>